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A896"/>
                </a:solidFill>
                <a:latin typeface="Helvetica"/>
              </a:defRPr>
            </a:pPr>
            <a:r>
              <a:t>BUTTERFLY SPECIES CLASSIFICATION</a:t>
            </a:r>
          </a:p>
          <a:p>
            <a:pPr>
              <a:defRPr sz="4000" b="1">
                <a:solidFill>
                  <a:srgbClr val="FFFFFF"/>
                </a:solidFill>
                <a:latin typeface="Helvetica"/>
              </a:defRPr>
            </a:pPr>
            <a:r>
              <a:t>Deep Learning &amp; Java Desktop System</a:t>
            </a:r>
          </a:p>
          <a:p>
            <a:pPr>
              <a:defRPr sz="1800">
                <a:solidFill>
                  <a:srgbClr val="718096"/>
                </a:solidFill>
                <a:latin typeface="Helvetica"/>
              </a:defRPr>
            </a:pPr>
            <a:r>
              <a:t>Automated Species Identification using MobileNetV2 Transfer Learning &amp; Java Swing GUI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Helvetica"/>
              </a:defRPr>
            </a:pPr>
            <a:r>
              <a:t>BUTTERFLY SPECIES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Project Overview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D1B2A"/>
                </a:solidFill>
              </a:defRPr>
            </a:pPr>
            <a:r>
              <a:t>The Challenge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Accurate species classification of butterflies is essential for ecological research and biodiversity monitoring.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Manual identification requires deep domain expertise and is prone to human error due to subtle pattern similarities.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Need for an automated, rapid computer vision system capable of predicting species from field photographs.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0A896"/>
                </a:solidFill>
              </a:defRPr>
            </a:pPr>
            <a:r>
              <a:t>Project Objectives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Develop an accurate Deep Learning model trained on the Leeds Butterfly Dataset.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Build a robust 100% Java-based desktop application (Java Swing) with non-blocking UI response.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Preprocess 224x224 RGB image arrays with MobileNetV2 normalization.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Output top-1 species prediction with confidence % and a ranked top-3 probability 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Helvetica"/>
              </a:defRPr>
            </a:pPr>
            <a:r>
              <a:t>BUTTERFLY SPECIES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Leeds Butterfly Dataset &amp; Preparation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2011680"/>
          </a:xfrm>
          <a:prstGeom prst="roundRect">
            <a:avLst/>
          </a:prstGeom>
          <a:solidFill>
            <a:srgbClr val="0D1B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A896"/>
                </a:solidFill>
              </a:defRPr>
            </a:pPr>
            <a:r>
              <a:t>832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Total High-Res Images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2011680"/>
          </a:xfrm>
          <a:prstGeom prst="roundRect">
            <a:avLst/>
          </a:prstGeom>
          <a:solidFill>
            <a:srgbClr val="0D1B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A896"/>
                </a:solidFill>
              </a:defRPr>
            </a:pPr>
            <a:r>
              <a:t>10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Distinct Butterfly Classes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291840" cy="2011680"/>
          </a:xfrm>
          <a:prstGeom prst="roundRect">
            <a:avLst/>
          </a:prstGeom>
          <a:solidFill>
            <a:srgbClr val="0D1B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A896"/>
                </a:solidFill>
              </a:defRPr>
            </a:pPr>
            <a:r>
              <a:t>80 / 20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Stratified Train / Test Split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6070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1B2A"/>
                </a:solidFill>
              </a:defRPr>
            </a:pPr>
            <a:r>
              <a:t>Automated Dataset Management (DatasetPreparer.java)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Parses 3-digit class ID prefixes (001–010) from raw image filenames in images/.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Applies a fixed random seed (42) to guarantee reproducible stratified partitioning.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Organizes train and test images into dataset/train/&lt;class_folder&gt; and dataset/test/&lt;class_folder&gt; directories.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Helvetica"/>
              </a:defRPr>
            </a:pPr>
            <a:r>
              <a:t>BUTTERFLY SPECIES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Supported Butterfly Species (10 Classes)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1B2A"/>
                </a:solidFill>
              </a:defRPr>
            </a:pPr>
            <a:r>
              <a:t>Class 001: Monarch</a:t>
            </a:r>
          </a:p>
          <a:p>
            <a:pPr>
              <a:defRPr sz="1100" i="1">
                <a:solidFill>
                  <a:srgbClr val="718096"/>
                </a:solidFill>
              </a:defRPr>
            </a:pPr>
            <a:r>
              <a:t>Scientific: Danaus plexippus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80160"/>
            <a:ext cx="5120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1B2A"/>
                </a:solidFill>
              </a:defRPr>
            </a:pPr>
            <a:r>
              <a:t>Class 002: Zebra Longwing</a:t>
            </a:r>
          </a:p>
          <a:p>
            <a:pPr>
              <a:defRPr sz="1100" i="1">
                <a:solidFill>
                  <a:srgbClr val="718096"/>
                </a:solidFill>
              </a:defRPr>
            </a:pPr>
            <a:r>
              <a:t>Scientific: Heliconius charitonius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5120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1B2A"/>
                </a:solidFill>
              </a:defRPr>
            </a:pPr>
            <a:r>
              <a:t>Class 003: Red Passion</a:t>
            </a:r>
          </a:p>
          <a:p>
            <a:pPr>
              <a:defRPr sz="1100" i="1">
                <a:solidFill>
                  <a:srgbClr val="718096"/>
                </a:solidFill>
              </a:defRPr>
            </a:pPr>
            <a:r>
              <a:t>Scientific: Heliconius erato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240280"/>
            <a:ext cx="5120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1B2A"/>
                </a:solidFill>
              </a:defRPr>
            </a:pPr>
            <a:r>
              <a:t>Class 004: Common Buckeye</a:t>
            </a:r>
          </a:p>
          <a:p>
            <a:pPr>
              <a:defRPr sz="1100" i="1">
                <a:solidFill>
                  <a:srgbClr val="718096"/>
                </a:solidFill>
              </a:defRPr>
            </a:pPr>
            <a:r>
              <a:t>Scientific: Junonia coenia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120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1B2A"/>
                </a:solidFill>
              </a:defRPr>
            </a:pPr>
            <a:r>
              <a:t>Class 005: Small Copper</a:t>
            </a:r>
          </a:p>
          <a:p>
            <a:pPr>
              <a:defRPr sz="1100" i="1">
                <a:solidFill>
                  <a:srgbClr val="718096"/>
                </a:solidFill>
              </a:defRPr>
            </a:pPr>
            <a:r>
              <a:t>Scientific: Lycaena phlaeas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200400"/>
            <a:ext cx="5120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1B2A"/>
                </a:solidFill>
              </a:defRPr>
            </a:pPr>
            <a:r>
              <a:t>Class 006: Mourning Cloak</a:t>
            </a:r>
          </a:p>
          <a:p>
            <a:pPr>
              <a:defRPr sz="1100" i="1">
                <a:solidFill>
                  <a:srgbClr val="718096"/>
                </a:solidFill>
              </a:defRPr>
            </a:pPr>
            <a:r>
              <a:t>Scientific: Nymphalis antiopa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5120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1B2A"/>
                </a:solidFill>
              </a:defRPr>
            </a:pPr>
            <a:r>
              <a:t>Class 007: Giant Swallowtail</a:t>
            </a:r>
          </a:p>
          <a:p>
            <a:pPr>
              <a:defRPr sz="1100" i="1">
                <a:solidFill>
                  <a:srgbClr val="718096"/>
                </a:solidFill>
              </a:defRPr>
            </a:pPr>
            <a:r>
              <a:t>Scientific: Papilio cresphontes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160520"/>
            <a:ext cx="5120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1B2A"/>
                </a:solidFill>
              </a:defRPr>
            </a:pPr>
            <a:r>
              <a:t>Class 008: Cabbage White</a:t>
            </a:r>
          </a:p>
          <a:p>
            <a:pPr>
              <a:defRPr sz="1100" i="1">
                <a:solidFill>
                  <a:srgbClr val="718096"/>
                </a:solidFill>
              </a:defRPr>
            </a:pPr>
            <a:r>
              <a:t>Scientific: Pieris rapae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5120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1B2A"/>
                </a:solidFill>
              </a:defRPr>
            </a:pPr>
            <a:r>
              <a:t>Class 009: Red Admiral</a:t>
            </a:r>
          </a:p>
          <a:p>
            <a:pPr>
              <a:defRPr sz="1100" i="1">
                <a:solidFill>
                  <a:srgbClr val="718096"/>
                </a:solidFill>
              </a:defRPr>
            </a:pPr>
            <a:r>
              <a:t>Scientific: Vanessa atalanta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5120640"/>
            <a:ext cx="5120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1B2A"/>
                </a:solidFill>
              </a:defRPr>
            </a:pPr>
            <a:r>
              <a:t>Class 010: Painted Lady</a:t>
            </a:r>
          </a:p>
          <a:p>
            <a:pPr>
              <a:defRPr sz="1100" i="1">
                <a:solidFill>
                  <a:srgbClr val="718096"/>
                </a:solidFill>
              </a:defRPr>
            </a:pPr>
            <a:r>
              <a:t>Scientific: Vanessa cardui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Helvetica"/>
              </a:defRPr>
            </a:pPr>
            <a:r>
              <a:t>BUTTERFLY SPECIES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System Architecture &amp;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1B2A"/>
                </a:solidFill>
              </a:defRPr>
            </a:pPr>
            <a:r>
              <a:t>Java 21 Swing GUI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Native desktop interface built using JFrame, JPanel, JButton, and custom 300x300 preview canvas.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A896"/>
                </a:solidFill>
              </a:defRPr>
            </a:pPr>
            <a:r>
              <a:t>MobileNetV2 Model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Lightweight convolutional neural network pretrained on ImageNet for image feature extraction.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1B2A"/>
                </a:solidFill>
              </a:defRPr>
            </a:pPr>
            <a:r>
              <a:t>Async Worker Threads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SwingWorker threads ensure image loading and prediction never freeze the user interface.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749039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A896"/>
                </a:solidFill>
              </a:defRPr>
            </a:pPr>
            <a:r>
              <a:t>Build &amp; Launch Tooling</a:t>
            </a:r>
          </a:p>
          <a:p>
            <a:pPr>
              <a:defRPr sz="1300">
                <a:solidFill>
                  <a:srgbClr val="2D3748"/>
                </a:solidFill>
              </a:defRPr>
            </a:pPr>
            <a:r>
              <a:t>Configured pom.xml for Maven and Windows batch scripts (build.bat, run.bat) for one-click launch.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Helvetica"/>
              </a:defRPr>
            </a:pPr>
            <a:r>
              <a:t>BUTTERFLY SPECIES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Deep Learning Pipeline &amp; 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D1B2A"/>
                </a:solidFill>
              </a:defRPr>
            </a:pPr>
            <a:r>
              <a:t>Model Preprocessing &amp; Transfer Learning Head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Input Resizing: Resizes input images to 224 x 224 RGB dimensions using high-quality bilinear interpolation.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MobileNetV2 Normalization: Normalizes raw pixel values [0, 255] into floating-point tensor range [-1.0, 1.0] via (pixel / 127.5) - 1.0.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Base Backbone: Frozen MobileNetV2 weights pretrained on ImageNet dataset for feature map extraction.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Classification Head: GlobalAveragePooling2D -&gt; Dense(256, ReLU) -&gt; Dropout(0.4) -&gt; Softmax Output (10 species probabilities).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Top-3 Output Engine: Sorts softmax probability vector to extract top-1 species match and top-3 confidence list.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Helvetica"/>
              </a:defRPr>
            </a:pPr>
            <a:r>
              <a:t>BUTTERFLY SPECIES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Java Swing Desktop Application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0A896"/>
                </a:solidFill>
              </a:defRPr>
            </a:pPr>
            <a:r>
              <a:t>User Interface Workflow &amp; Key Features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Compact 440x640 Window: Fixed-size responsive desktop window with native Windows Look &amp; Feel.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Dark Header (#0D1B2A): Styled header bar with centered white title.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Interactive 300x300 Canvas: Centered canvas displaying thumbnail preview or 'No Image Selected' prompt.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Browse Image Button: Opens JFileChooser to pick JPG/PNG image files.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Real-Time Results: Displays top-1 common name, scientific name (italicized), confidence score (%), and top-3 predictions ranking.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A896"/>
                </a:solidFill>
                <a:latin typeface="Helvetica"/>
              </a:defRPr>
            </a:pPr>
            <a:r>
              <a:t>SUMMARY &amp; NEXT STEPS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Project Accomplishments</a:t>
            </a:r>
          </a:p>
          <a:p>
            <a:pPr>
              <a:defRPr sz="1600">
                <a:solidFill>
                  <a:srgbClr val="F0F4F8"/>
                </a:solidFill>
              </a:defRPr>
            </a:pPr>
            <a:r>
              <a:t>✔  Fully converted Python project to a 100% Java-based application codebase.</a:t>
            </a:r>
          </a:p>
          <a:p>
            <a:pPr>
              <a:defRPr sz="1600">
                <a:solidFill>
                  <a:srgbClr val="F0F4F8"/>
                </a:solidFill>
              </a:defRPr>
            </a:pPr>
            <a:r>
              <a:t>✔  Implemented smooth, responsive Java Swing GUI with asynchronous thread management.</a:t>
            </a:r>
          </a:p>
          <a:p>
            <a:pPr>
              <a:defRPr sz="1600">
                <a:solidFill>
                  <a:srgbClr val="F0F4F8"/>
                </a:solidFill>
              </a:defRPr>
            </a:pPr>
            <a:r>
              <a:t>✔  Automated Leeds Butterfly dataset split and MobileNetV2 image preprocessing.</a:t>
            </a:r>
          </a:p>
          <a:p>
            <a:pPr>
              <a:defRPr sz="1600">
                <a:solidFill>
                  <a:srgbClr val="F0F4F8"/>
                </a:solidFill>
              </a:defRPr>
            </a:pPr>
            <a:r>
              <a:t>✔  Provided build.bat, run.bat, and pom.xml for cross-platform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